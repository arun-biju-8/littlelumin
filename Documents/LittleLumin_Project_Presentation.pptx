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23960" y="-640080"/>
            <a:ext cx="4114800" cy="4114800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228600"/>
            <a:ext cx="2651760" cy="2651760"/>
          </a:xfrm>
          <a:prstGeom prst="ellipse">
            <a:avLst/>
          </a:prstGeom>
          <a:solidFill>
            <a:srgbClr val="17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4251960"/>
            <a:ext cx="2194560" cy="2194560"/>
          </a:xfrm>
          <a:prstGeom prst="ellipse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1371600" cy="1371600"/>
          </a:xfrm>
          <a:prstGeom prst="ellipse">
            <a:avLst/>
          </a:prstGeom>
          <a:solidFill>
            <a:srgbClr val="17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13232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000" b="1">
                <a:solidFill>
                  <a:srgbClr val="1FA699"/>
                </a:solidFill>
                <a:latin typeface="Aptos"/>
              </a:defRPr>
            </a:pPr>
            <a:r>
              <a:t>LITTLELUMIN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772400" cy="10058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Spark. Shine. Thrive.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7223760" cy="731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100" b="0">
                <a:solidFill>
                  <a:srgbClr val="DCE5F1"/>
                </a:solidFill>
                <a:latin typeface="Aptos"/>
              </a:defRPr>
            </a:pPr>
            <a:r>
              <a:t>AI-assisted child development &amp; parenting support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86200"/>
            <a:ext cx="1005840" cy="73152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989320"/>
            <a:ext cx="6400800" cy="249299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CBD7E6"/>
                </a:solidFill>
                <a:latin typeface="Aptos"/>
              </a:defRPr>
            </a:pPr>
            <a:r>
              <a:rPr dirty="0"/>
              <a:t>Presented by: Arun Biju Thomas  |  </a:t>
            </a:r>
            <a:r>
              <a:rPr lang="en-IN" dirty="0"/>
              <a:t>AJC25MCA-2019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Purpose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Why LittleLumin exists and what it aims to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3035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61188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4937759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4937759" cy="28803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700" b="0">
                <a:solidFill>
                  <a:srgbClr val="2B3445"/>
                </a:solidFill>
                <a:latin typeface="Aptos"/>
              </a:defRPr>
            </a:pPr>
            <a:r>
              <a:t>Provide a supportive digital platform for parents and children, combining guided activities, progress tracking and AI-assisted content to encourage early learning and development.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160020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7510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PERSONALISED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489204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Offer age- and skill-relevant activities and stories to support a child's learning journey.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2578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611880"/>
            <a:ext cx="73152" cy="160020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75818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MEASURABLE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33672"/>
            <a:ext cx="489204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Record activity performance and help parents understand progress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700" b="1">
                <a:solidFill>
                  <a:srgbClr val="172344"/>
                </a:solidFill>
                <a:latin typeface="Aptos"/>
              </a:defRPr>
            </a:pPr>
            <a:r>
              <a:t>Core aim: make developmental support easier to access, understand and follow.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System Users &amp;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Role-based access helps each user focus on their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56616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315468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154680" cy="2834639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• Manage child profile</a:t>
            </a:r>
            <a:br/>
            <a:r>
              <a:t>• View activities and stories</a:t>
            </a:r>
            <a:br/>
            <a:r>
              <a:t>• Track progress and scores</a:t>
            </a:r>
            <a:br/>
            <a:r>
              <a:t>• Submit feedback</a:t>
            </a:r>
            <a:br/>
            <a:r>
              <a:t>• Access available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356616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75104"/>
            <a:ext cx="315468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50592"/>
            <a:ext cx="3154680" cy="2834639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• Explore age-appropriate activities</a:t>
            </a:r>
            <a:br/>
            <a:r>
              <a:t>• Engage with stories and puzzles</a:t>
            </a:r>
            <a:br/>
            <a:r>
              <a:t>• Complete learning tasks</a:t>
            </a:r>
            <a:br/>
            <a:r>
              <a:t>• Earn scores and progress through 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356616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75104"/>
            <a:ext cx="315468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ADMIN /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0592"/>
            <a:ext cx="3154680" cy="2834639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• Manage platform content and users</a:t>
            </a:r>
            <a:br/>
            <a:r>
              <a:t>• Review progress and feedback</a:t>
            </a:r>
            <a:br/>
            <a:r>
              <a:t>• Support parents with recommendations</a:t>
            </a:r>
            <a:br/>
            <a:r>
              <a:t>• Use available reports and oversight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9848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0">
                <a:solidFill>
                  <a:srgbClr val="677385"/>
                </a:solidFill>
                <a:latin typeface="Aptos"/>
              </a:defRPr>
            </a:pPr>
            <a:r>
              <a:t>Capabilities depend on the modules implemented in the current application 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Operational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A simple end-to-end journey through LittleLumin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916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" y="1719072"/>
            <a:ext cx="621792" cy="621792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874519"/>
            <a:ext cx="62179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1444752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72344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417320" cy="12344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000" b="0">
                <a:solidFill>
                  <a:srgbClr val="2B3445"/>
                </a:solidFill>
                <a:latin typeface="Aptos"/>
              </a:defRPr>
            </a:pPr>
            <a:r>
              <a:t>Parent accesses the platform and manages the child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306324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400" b="1">
                <a:solidFill>
                  <a:srgbClr val="1FA6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148840"/>
            <a:ext cx="16916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56432" y="1719072"/>
            <a:ext cx="621792" cy="621792"/>
          </a:xfrm>
          <a:prstGeom prst="ellipse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1874519"/>
            <a:ext cx="62179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606040"/>
            <a:ext cx="1444752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72344"/>
                </a:solidFill>
                <a:latin typeface="Aptos"/>
              </a:defRPr>
            </a:pPr>
            <a:r>
              <a:t>Understand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127248"/>
            <a:ext cx="1417320" cy="12344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000" b="0">
                <a:solidFill>
                  <a:srgbClr val="2B3445"/>
                </a:solidFill>
                <a:latin typeface="Aptos"/>
              </a:defRPr>
            </a:pPr>
            <a:r>
              <a:t>Parent provides relevant details and developmental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06324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400" b="1">
                <a:solidFill>
                  <a:srgbClr val="1FA6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2148840"/>
            <a:ext cx="16916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88152" y="1719072"/>
            <a:ext cx="621792" cy="621792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88152" y="1874519"/>
            <a:ext cx="62179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606040"/>
            <a:ext cx="1444752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72344"/>
                </a:solidFill>
                <a:latin typeface="Aptos"/>
              </a:defRPr>
            </a:pPr>
            <a:r>
              <a:t>Get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127248"/>
            <a:ext cx="1417320" cy="12344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000" b="0">
                <a:solidFill>
                  <a:srgbClr val="2B3445"/>
                </a:solidFill>
                <a:latin typeface="Aptos"/>
              </a:defRPr>
            </a:pPr>
            <a:r>
              <a:t>The system presents suitable activities, stories or recommendations.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06324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400" b="1">
                <a:solidFill>
                  <a:srgbClr val="1FA6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148840"/>
            <a:ext cx="16916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19872" y="1719072"/>
            <a:ext cx="621792" cy="621792"/>
          </a:xfrm>
          <a:prstGeom prst="ellipse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2" y="1874519"/>
            <a:ext cx="62179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606040"/>
            <a:ext cx="1444752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72344"/>
                </a:solidFill>
                <a:latin typeface="Aptos"/>
              </a:defRPr>
            </a:pPr>
            <a:r>
              <a:t>Complete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127248"/>
            <a:ext cx="1417320" cy="12344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000" b="0">
                <a:solidFill>
                  <a:srgbClr val="2B3445"/>
                </a:solidFill>
                <a:latin typeface="Aptos"/>
              </a:defRPr>
            </a:pPr>
            <a:r>
              <a:t>Child engages with activities; performance is recorded.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06324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2400" b="1">
                <a:solidFill>
                  <a:srgbClr val="1FA6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2148840"/>
            <a:ext cx="16916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451592" y="1719072"/>
            <a:ext cx="621792" cy="621792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51592" y="1874519"/>
            <a:ext cx="62179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2606040"/>
            <a:ext cx="1444752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72344"/>
                </a:solidFill>
                <a:latin typeface="Aptos"/>
              </a:defRPr>
            </a:pPr>
            <a:r>
              <a:t>Review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127248"/>
            <a:ext cx="1417320" cy="12344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000" b="0">
                <a:solidFill>
                  <a:srgbClr val="2B3445"/>
                </a:solidFill>
                <a:latin typeface="Aptos"/>
              </a:defRPr>
            </a:pPr>
            <a:r>
              <a:t>Parent views progress information and decides next steps.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72344"/>
                </a:solidFill>
                <a:latin typeface="Aptos"/>
              </a:defRPr>
            </a:pPr>
            <a:r>
              <a:t>Feedback and updated progress can inform future activity choices.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Core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The main capabilities that bring the platform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60020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AI activity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Creates learning activities based on supplied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73152" cy="160020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7510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Personalised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5059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Supports story-based engagement and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73152" cy="160020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97510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Scoring &amp; progression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45059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Records performance and supports level progression.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60020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Growth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1655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Presents activity and progress information to parents.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94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794760"/>
            <a:ext cx="73152" cy="160020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94106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Feedback &amp;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41655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Allows feedback and supports recommendations.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794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79" y="3794760"/>
            <a:ext cx="73152" cy="160020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5048" y="3941064"/>
            <a:ext cx="297180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User &amp; data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416552"/>
            <a:ext cx="2971800" cy="8686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2B3445"/>
                </a:solidFill>
                <a:latin typeface="Aptos"/>
              </a:defRPr>
            </a:pPr>
            <a:r>
              <a:t>Organises profiles and platform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How LittleLumin can help families and support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58368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B3445"/>
                </a:solidFill>
                <a:latin typeface="Aptos"/>
              </a:defRPr>
            </a:pPr>
            <a:r>
              <a:t>•  One place to access activities, stories and progress information.</a:t>
            </a:r>
          </a:p>
          <a:p>
            <a:pPr>
              <a:spcAft>
                <a:spcPts val="1400"/>
              </a:spcAft>
              <a:defRPr sz="1700">
                <a:solidFill>
                  <a:srgbClr val="2B3445"/>
                </a:solidFill>
                <a:latin typeface="Aptos"/>
              </a:defRPr>
            </a:pPr>
            <a:r>
              <a:t>•  AI-assisted content can help diversify learning experiences.</a:t>
            </a:r>
          </a:p>
          <a:p>
            <a:pPr>
              <a:spcAft>
                <a:spcPts val="1400"/>
              </a:spcAft>
              <a:defRPr sz="1700">
                <a:solidFill>
                  <a:srgbClr val="2B3445"/>
                </a:solidFill>
                <a:latin typeface="Aptos"/>
              </a:defRPr>
            </a:pPr>
            <a:r>
              <a:t>•  Progress records make it easier to review engagement over time.</a:t>
            </a:r>
          </a:p>
          <a:p>
            <a:pPr>
              <a:spcAft>
                <a:spcPts val="1400"/>
              </a:spcAft>
              <a:defRPr sz="1700">
                <a:solidFill>
                  <a:srgbClr val="2B3445"/>
                </a:solidFill>
                <a:latin typeface="Aptos"/>
              </a:defRPr>
            </a:pPr>
            <a:r>
              <a:t>•  Parent-focused information can support informed conversations.</a:t>
            </a:r>
          </a:p>
          <a:p>
            <a:pPr>
              <a:spcAft>
                <a:spcPts val="1400"/>
              </a:spcAft>
              <a:defRPr sz="1700">
                <a:solidFill>
                  <a:srgbClr val="2B3445"/>
                </a:solidFill>
                <a:latin typeface="Aptos"/>
              </a:defRPr>
            </a:pPr>
            <a:r>
              <a:t>•  A digital workflow can reduce the effort of organising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834640" cy="3291840"/>
          </a:xfrm>
          <a:prstGeom prst="roundRect">
            <a:avLst/>
          </a:prstGeom>
          <a:solidFill>
            <a:srgbClr val="D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2331720"/>
            <a:ext cx="228600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400" b="1">
                <a:solidFill>
                  <a:srgbClr val="1FA699"/>
                </a:solidFill>
                <a:latin typeface="Aptos"/>
              </a:defRPr>
            </a:pPr>
            <a:r>
              <a:t>DESIGNED TO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971800"/>
            <a:ext cx="2194560" cy="160020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defRPr sz="2200" b="1">
                <a:solidFill>
                  <a:srgbClr val="172344"/>
                </a:solidFill>
                <a:latin typeface="Aptos"/>
              </a:defRPr>
            </a:pPr>
            <a:r>
              <a:t>Parents</a:t>
            </a:r>
            <a:br/>
            <a:r>
              <a:t>Children</a:t>
            </a:r>
            <a:br/>
            <a:r>
              <a:t>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000" b="0">
                <a:solidFill>
                  <a:srgbClr val="677385"/>
                </a:solidFill>
                <a:latin typeface="Aptos"/>
              </a:defRPr>
            </a:pPr>
            <a:r>
              <a:t>Benefits depend on correct use, quality of inputs and availability of implemented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Important considerations for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AI OUTPUTS NEED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89204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Generated activities and stories may require parent or specialist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141732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7510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INTERNET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489204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Online authentication, cloud data and AI services require connectivity.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73152" cy="1417320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66674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NOT A DIAGNOSTIC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42232"/>
            <a:ext cx="489204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The platform does not replace professional assessment or therapy.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73152" cy="1417320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666744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DATA &amp;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42232"/>
            <a:ext cx="489204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300" b="0">
                <a:solidFill>
                  <a:srgbClr val="2B3445"/>
                </a:solidFill>
                <a:latin typeface="Aptos"/>
              </a:defRPr>
            </a:pPr>
            <a:r>
              <a:t>Accuracy depends on entered data; language and feature coverage may vary.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600" b="1">
                <a:solidFill>
                  <a:srgbClr val="172344"/>
                </a:solidFill>
                <a:latin typeface="Aptos"/>
              </a:defRPr>
            </a:pPr>
            <a:r>
              <a:t>Use the platform as a supportive aid—not as a substitute for professional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3657600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1">
                <a:solidFill>
                  <a:srgbClr val="1FA69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A connected learning journey for children and parents.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2514600"/>
            <a:ext cx="822960" cy="73152"/>
          </a:xfrm>
          <a:prstGeom prst="rect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81381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2E9F4"/>
                </a:solidFill>
                <a:latin typeface="Aptos"/>
              </a:defRPr>
            </a:pPr>
            <a:r>
              <a:t>•  Combines learning activities, stories and progress tracking.</a:t>
            </a:r>
          </a:p>
          <a:p>
            <a:pPr>
              <a:spcAft>
                <a:spcPts val="1800"/>
              </a:spcAft>
              <a:defRPr sz="1800">
                <a:solidFill>
                  <a:srgbClr val="E2E9F4"/>
                </a:solidFill>
                <a:latin typeface="Aptos"/>
              </a:defRPr>
            </a:pPr>
            <a:r>
              <a:t>•  Uses AI-assisted features to support engaging, adaptable experiences.</a:t>
            </a:r>
          </a:p>
          <a:p>
            <a:pPr>
              <a:spcAft>
                <a:spcPts val="1800"/>
              </a:spcAft>
              <a:defRPr sz="1800">
                <a:solidFill>
                  <a:srgbClr val="E2E9F4"/>
                </a:solidFill>
                <a:latin typeface="Aptos"/>
              </a:defRPr>
            </a:pPr>
            <a:r>
              <a:t>•  Keeps parents involved in reviewing progress and planning next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6400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1">
                <a:solidFill>
                  <a:srgbClr val="1FA699"/>
                </a:solidFill>
                <a:latin typeface="Aptos"/>
              </a:defRPr>
            </a:pPr>
            <a:r>
              <a:t>LittleLumin  •  Spark. Shine. Thrive.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900" b="1">
                <a:solidFill>
                  <a:srgbClr val="B4C2D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53035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2800" b="1">
                <a:solidFill>
                  <a:srgbClr val="172344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77240" cy="64008"/>
          </a:xfrm>
          <a:prstGeom prst="rect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200" b="0">
                <a:solidFill>
                  <a:srgbClr val="677385"/>
                </a:solidFill>
                <a:latin typeface="Aptos"/>
              </a:defRPr>
            </a:pPr>
            <a:r>
              <a:t>Possible directions for continued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73952"/>
            <a:ext cx="192024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defRPr sz="800" b="1">
                <a:solidFill>
                  <a:srgbClr val="677385"/>
                </a:solidFill>
                <a:latin typeface="Aptos"/>
              </a:defRPr>
            </a:pPr>
            <a:r>
              <a:t>LITTLELUMIN  •  09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10512"/>
            <a:ext cx="384048" cy="384048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384048" cy="14630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27432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Smarter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8308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Use progress trends to recommend more relevant activities.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33472"/>
            <a:ext cx="384048" cy="384048"/>
          </a:xfrm>
          <a:prstGeom prst="ellipse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384048" cy="14630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06040"/>
            <a:ext cx="27432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Expanded language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0604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Improve multilingual interaction and accessibility.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456432"/>
            <a:ext cx="384048" cy="384048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538728"/>
            <a:ext cx="384048" cy="14630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29000"/>
            <a:ext cx="27432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Richer parent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42900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Offer clearer summaries of strengths, engagement and progress.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79392"/>
            <a:ext cx="384048" cy="384048"/>
          </a:xfrm>
          <a:prstGeom prst="ellipse">
            <a:avLst/>
          </a:prstGeom>
          <a:solidFill>
            <a:srgbClr val="F5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361688"/>
            <a:ext cx="384048" cy="14630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51960"/>
            <a:ext cx="27432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Specialist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25196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Strengthen referral, communication and review workflows.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02352"/>
            <a:ext cx="384048" cy="384048"/>
          </a:xfrm>
          <a:prstGeom prst="ellipse">
            <a:avLst/>
          </a:prstGeom>
          <a:solidFill>
            <a:srgbClr val="1F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384048" cy="146304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74920"/>
            <a:ext cx="2743200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600" b="1">
                <a:solidFill>
                  <a:srgbClr val="172344"/>
                </a:solidFill>
                <a:latin typeface="Aptos"/>
              </a:defRPr>
            </a:pPr>
            <a:r>
              <a:t>Quality &amp;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74920"/>
            <a:ext cx="68580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400" b="0">
                <a:solidFill>
                  <a:srgbClr val="2B3445"/>
                </a:solidFill>
                <a:latin typeface="Aptos"/>
              </a:defRPr>
            </a:pPr>
            <a:r>
              <a:t>Evaluate generated content and progression rules with expert feedback.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80760"/>
            <a:ext cx="105156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defRPr sz="1100" b="0">
                <a:solidFill>
                  <a:srgbClr val="677385"/>
                </a:solidFill>
                <a:latin typeface="Aptos"/>
              </a:defRPr>
            </a:pPr>
            <a:r>
              <a:t>Future enhancements should be guided by user feedback, accessibility and responsible AI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681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LittleLumin Project Presentation</dc:title>
  <dc:subject>Purpose, users, workflow, functions, benefits, limitations, conclusion and future scope</dc:subject>
  <dc:creator>Arun Biju Thomas</dc:creator>
  <cp:keywords/>
  <dc:description>generated using python-pptx</dc:description>
  <cp:lastModifiedBy>Akkadan .</cp:lastModifiedBy>
  <cp:revision>2</cp:revision>
  <dcterms:created xsi:type="dcterms:W3CDTF">2013-01-27T09:14:16Z</dcterms:created>
  <dcterms:modified xsi:type="dcterms:W3CDTF">2026-10-27T01:18:48Z</dcterms:modified>
  <cp:category/>
</cp:coreProperties>
</file>